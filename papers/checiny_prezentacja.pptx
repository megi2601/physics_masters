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ABD14B-9518-489B-9EA0-4431E608AE93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3740078C-1D3D-4F57-8BAB-2158316B746D}">
      <dgm:prSet phldrT="[Text]" custT="1"/>
      <dgm:spPr>
        <a:solidFill>
          <a:schemeClr val="accent5">
            <a:lumMod val="20000"/>
            <a:lumOff val="80000"/>
          </a:schemeClr>
        </a:solidFill>
        <a:ln w="3810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pl-PL" sz="2800" dirty="0" err="1"/>
            <a:t>Fluctuations</a:t>
          </a:r>
          <a:r>
            <a:rPr lang="pl-PL" sz="2800" dirty="0"/>
            <a:t> of </a:t>
          </a:r>
          <a:r>
            <a:rPr lang="pl-PL" sz="2800" dirty="0" err="1"/>
            <a:t>an</a:t>
          </a:r>
          <a:r>
            <a:rPr lang="pl-PL" sz="2800" dirty="0"/>
            <a:t> Index</a:t>
          </a:r>
          <a:endParaRPr lang="en-GB" sz="2800" dirty="0"/>
        </a:p>
      </dgm:t>
    </dgm:pt>
    <dgm:pt modelId="{8257866A-1A32-4D17-B42B-AC2F10A484E0}" type="parTrans" cxnId="{657A1E70-20F1-4739-B8CB-8A96B9A265A5}">
      <dgm:prSet/>
      <dgm:spPr/>
      <dgm:t>
        <a:bodyPr/>
        <a:lstStyle/>
        <a:p>
          <a:endParaRPr lang="en-GB"/>
        </a:p>
      </dgm:t>
    </dgm:pt>
    <dgm:pt modelId="{A4BE5A71-FF77-4D88-91CC-43029C3CD186}" type="sibTrans" cxnId="{657A1E70-20F1-4739-B8CB-8A96B9A265A5}">
      <dgm:prSet/>
      <dgm:spPr/>
      <dgm:t>
        <a:bodyPr/>
        <a:lstStyle/>
        <a:p>
          <a:endParaRPr lang="en-GB"/>
        </a:p>
      </dgm:t>
    </dgm:pt>
    <dgm:pt modelId="{60DA67C6-9B95-467B-8D88-B5F05DEE7941}">
      <dgm:prSet phldrT="[Text]"/>
      <dgm:spPr>
        <a:solidFill>
          <a:schemeClr val="accent5">
            <a:lumMod val="20000"/>
            <a:lumOff val="80000"/>
          </a:schemeClr>
        </a:solidFill>
        <a:ln w="3810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pl-PL" dirty="0" err="1"/>
            <a:t>Fluctuations</a:t>
          </a:r>
          <a:r>
            <a:rPr lang="pl-PL" dirty="0"/>
            <a:t> of </a:t>
          </a:r>
          <a:r>
            <a:rPr lang="pl-PL" dirty="0" err="1"/>
            <a:t>stocks</a:t>
          </a:r>
          <a:endParaRPr lang="en-GB" dirty="0"/>
        </a:p>
      </dgm:t>
    </dgm:pt>
    <dgm:pt modelId="{7011EF0C-3095-48CE-905C-4BD0350BEF74}" type="parTrans" cxnId="{92F8C7F1-D74C-4382-A87B-22C592062771}">
      <dgm:prSet/>
      <dgm:spPr>
        <a:ln w="3810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endParaRPr lang="en-GB"/>
        </a:p>
      </dgm:t>
    </dgm:pt>
    <dgm:pt modelId="{A6A7368E-B2DD-4F7E-A28B-23A6D05FDA04}" type="sibTrans" cxnId="{92F8C7F1-D74C-4382-A87B-22C592062771}">
      <dgm:prSet/>
      <dgm:spPr/>
      <dgm:t>
        <a:bodyPr/>
        <a:lstStyle/>
        <a:p>
          <a:endParaRPr lang="en-GB"/>
        </a:p>
      </dgm:t>
    </dgm:pt>
    <dgm:pt modelId="{C493974A-B357-475C-9377-0AD4F379F4AA}">
      <dgm:prSet phldrT="[Text]"/>
      <dgm:spPr>
        <a:solidFill>
          <a:schemeClr val="accent5">
            <a:lumMod val="20000"/>
            <a:lumOff val="80000"/>
          </a:schemeClr>
        </a:solidFill>
        <a:ln w="3810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r>
            <a:rPr lang="pl-PL" dirty="0" err="1"/>
            <a:t>Correlations</a:t>
          </a:r>
          <a:r>
            <a:rPr lang="pl-PL" dirty="0"/>
            <a:t> </a:t>
          </a:r>
          <a:r>
            <a:rPr lang="pl-PL" dirty="0" err="1"/>
            <a:t>between</a:t>
          </a:r>
          <a:r>
            <a:rPr lang="pl-PL" dirty="0"/>
            <a:t> </a:t>
          </a:r>
          <a:r>
            <a:rPr lang="pl-PL" dirty="0" err="1"/>
            <a:t>stocks</a:t>
          </a:r>
          <a:endParaRPr lang="en-GB" dirty="0"/>
        </a:p>
      </dgm:t>
    </dgm:pt>
    <dgm:pt modelId="{FB981514-676A-4074-8AED-4FE75D1E574E}" type="parTrans" cxnId="{33F0B5F1-0F5D-4478-8C48-3B0F29C9844E}">
      <dgm:prSet/>
      <dgm:spPr>
        <a:ln w="38100">
          <a:solidFill>
            <a:schemeClr val="accent5">
              <a:lumMod val="60000"/>
              <a:lumOff val="40000"/>
            </a:schemeClr>
          </a:solidFill>
        </a:ln>
      </dgm:spPr>
      <dgm:t>
        <a:bodyPr/>
        <a:lstStyle/>
        <a:p>
          <a:endParaRPr lang="en-GB"/>
        </a:p>
      </dgm:t>
    </dgm:pt>
    <dgm:pt modelId="{CCB45131-4B7B-4678-8596-865186D648F6}" type="sibTrans" cxnId="{33F0B5F1-0F5D-4478-8C48-3B0F29C9844E}">
      <dgm:prSet/>
      <dgm:spPr/>
      <dgm:t>
        <a:bodyPr/>
        <a:lstStyle/>
        <a:p>
          <a:endParaRPr lang="en-GB"/>
        </a:p>
      </dgm:t>
    </dgm:pt>
    <dgm:pt modelId="{44DBC789-43C6-4203-A728-FFB3AAAFD74F}" type="pres">
      <dgm:prSet presAssocID="{D7ABD14B-9518-489B-9EA0-4431E608AE9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3A03315-630A-434D-8DCE-87E8C35EA649}" type="pres">
      <dgm:prSet presAssocID="{3740078C-1D3D-4F57-8BAB-2158316B746D}" presName="hierRoot1" presStyleCnt="0">
        <dgm:presLayoutVars>
          <dgm:hierBranch val="init"/>
        </dgm:presLayoutVars>
      </dgm:prSet>
      <dgm:spPr/>
    </dgm:pt>
    <dgm:pt modelId="{99F32EB0-127B-47DF-8D37-62E8AEE1B887}" type="pres">
      <dgm:prSet presAssocID="{3740078C-1D3D-4F57-8BAB-2158316B746D}" presName="rootComposite1" presStyleCnt="0"/>
      <dgm:spPr/>
    </dgm:pt>
    <dgm:pt modelId="{4FB418B1-D704-4082-BDAC-604C7EF0CCB6}" type="pres">
      <dgm:prSet presAssocID="{3740078C-1D3D-4F57-8BAB-2158316B746D}" presName="rootText1" presStyleLbl="node0" presStyleIdx="0" presStyleCnt="1" custScaleX="186130" custScaleY="168619" custLinFactNeighborY="-9684">
        <dgm:presLayoutVars>
          <dgm:chPref val="3"/>
        </dgm:presLayoutVars>
      </dgm:prSet>
      <dgm:spPr/>
    </dgm:pt>
    <dgm:pt modelId="{603CCEB6-87D5-437F-A49F-EFE6801B4B82}" type="pres">
      <dgm:prSet presAssocID="{3740078C-1D3D-4F57-8BAB-2158316B746D}" presName="rootConnector1" presStyleLbl="node1" presStyleIdx="0" presStyleCnt="0"/>
      <dgm:spPr/>
    </dgm:pt>
    <dgm:pt modelId="{3146A3F4-C0B2-4218-875B-3EC35CD307EB}" type="pres">
      <dgm:prSet presAssocID="{3740078C-1D3D-4F57-8BAB-2158316B746D}" presName="hierChild2" presStyleCnt="0"/>
      <dgm:spPr/>
    </dgm:pt>
    <dgm:pt modelId="{C21F51CC-2C61-44D6-9D90-EF4C8D51F251}" type="pres">
      <dgm:prSet presAssocID="{7011EF0C-3095-48CE-905C-4BD0350BEF74}" presName="Name37" presStyleLbl="parChTrans1D2" presStyleIdx="0" presStyleCnt="2"/>
      <dgm:spPr/>
    </dgm:pt>
    <dgm:pt modelId="{A0D152E4-48F6-4D73-B910-82DC197677D1}" type="pres">
      <dgm:prSet presAssocID="{60DA67C6-9B95-467B-8D88-B5F05DEE7941}" presName="hierRoot2" presStyleCnt="0">
        <dgm:presLayoutVars>
          <dgm:hierBranch val="init"/>
        </dgm:presLayoutVars>
      </dgm:prSet>
      <dgm:spPr/>
    </dgm:pt>
    <dgm:pt modelId="{5CB87BF1-1986-4268-8BD9-D6DADB5E723F}" type="pres">
      <dgm:prSet presAssocID="{60DA67C6-9B95-467B-8D88-B5F05DEE7941}" presName="rootComposite" presStyleCnt="0"/>
      <dgm:spPr/>
    </dgm:pt>
    <dgm:pt modelId="{50DE0A8D-D3CC-41AB-8031-1D511FA6F4EA}" type="pres">
      <dgm:prSet presAssocID="{60DA67C6-9B95-467B-8D88-B5F05DEE7941}" presName="rootText" presStyleLbl="node2" presStyleIdx="0" presStyleCnt="2" custScaleX="166042">
        <dgm:presLayoutVars>
          <dgm:chPref val="3"/>
        </dgm:presLayoutVars>
      </dgm:prSet>
      <dgm:spPr/>
    </dgm:pt>
    <dgm:pt modelId="{990FAE9B-8BE6-44BA-A685-88E38C2F6A54}" type="pres">
      <dgm:prSet presAssocID="{60DA67C6-9B95-467B-8D88-B5F05DEE7941}" presName="rootConnector" presStyleLbl="node2" presStyleIdx="0" presStyleCnt="2"/>
      <dgm:spPr/>
    </dgm:pt>
    <dgm:pt modelId="{8103E3E0-4ABE-43A2-94C4-5D6BCD355D33}" type="pres">
      <dgm:prSet presAssocID="{60DA67C6-9B95-467B-8D88-B5F05DEE7941}" presName="hierChild4" presStyleCnt="0"/>
      <dgm:spPr/>
    </dgm:pt>
    <dgm:pt modelId="{4BD0E6EB-C77A-467B-AC47-B312608BFDF2}" type="pres">
      <dgm:prSet presAssocID="{60DA67C6-9B95-467B-8D88-B5F05DEE7941}" presName="hierChild5" presStyleCnt="0"/>
      <dgm:spPr/>
    </dgm:pt>
    <dgm:pt modelId="{084E6F9A-5D26-4755-BC43-F1E7A5D79725}" type="pres">
      <dgm:prSet presAssocID="{FB981514-676A-4074-8AED-4FE75D1E574E}" presName="Name37" presStyleLbl="parChTrans1D2" presStyleIdx="1" presStyleCnt="2"/>
      <dgm:spPr/>
    </dgm:pt>
    <dgm:pt modelId="{C2A570D6-9FE3-407C-A4CB-F79BADA96C5C}" type="pres">
      <dgm:prSet presAssocID="{C493974A-B357-475C-9377-0AD4F379F4AA}" presName="hierRoot2" presStyleCnt="0">
        <dgm:presLayoutVars>
          <dgm:hierBranch val="init"/>
        </dgm:presLayoutVars>
      </dgm:prSet>
      <dgm:spPr/>
    </dgm:pt>
    <dgm:pt modelId="{F36F06F1-2EBA-4B12-84E7-AA8708DEACAB}" type="pres">
      <dgm:prSet presAssocID="{C493974A-B357-475C-9377-0AD4F379F4AA}" presName="rootComposite" presStyleCnt="0"/>
      <dgm:spPr/>
    </dgm:pt>
    <dgm:pt modelId="{2966B516-4068-4D66-B57C-3C8BEEE5C5C9}" type="pres">
      <dgm:prSet presAssocID="{C493974A-B357-475C-9377-0AD4F379F4AA}" presName="rootText" presStyleLbl="node2" presStyleIdx="1" presStyleCnt="2" custScaleX="166217">
        <dgm:presLayoutVars>
          <dgm:chPref val="3"/>
        </dgm:presLayoutVars>
      </dgm:prSet>
      <dgm:spPr/>
    </dgm:pt>
    <dgm:pt modelId="{E30F20EA-38CF-431C-8FA8-F7FC950E8F20}" type="pres">
      <dgm:prSet presAssocID="{C493974A-B357-475C-9377-0AD4F379F4AA}" presName="rootConnector" presStyleLbl="node2" presStyleIdx="1" presStyleCnt="2"/>
      <dgm:spPr/>
    </dgm:pt>
    <dgm:pt modelId="{02159809-82A3-4A49-8EE0-F9BA7108CD42}" type="pres">
      <dgm:prSet presAssocID="{C493974A-B357-475C-9377-0AD4F379F4AA}" presName="hierChild4" presStyleCnt="0"/>
      <dgm:spPr/>
    </dgm:pt>
    <dgm:pt modelId="{1AA8791F-F0A0-443F-9CF7-575445337E2F}" type="pres">
      <dgm:prSet presAssocID="{C493974A-B357-475C-9377-0AD4F379F4AA}" presName="hierChild5" presStyleCnt="0"/>
      <dgm:spPr/>
    </dgm:pt>
    <dgm:pt modelId="{496626BD-D2E2-457A-9EC9-4ED09A9B0155}" type="pres">
      <dgm:prSet presAssocID="{3740078C-1D3D-4F57-8BAB-2158316B746D}" presName="hierChild3" presStyleCnt="0"/>
      <dgm:spPr/>
    </dgm:pt>
  </dgm:ptLst>
  <dgm:cxnLst>
    <dgm:cxn modelId="{A614912A-4756-4067-9C66-F2FC558C594D}" type="presOf" srcId="{3740078C-1D3D-4F57-8BAB-2158316B746D}" destId="{4FB418B1-D704-4082-BDAC-604C7EF0CCB6}" srcOrd="0" destOrd="0" presId="urn:microsoft.com/office/officeart/2005/8/layout/orgChart1"/>
    <dgm:cxn modelId="{9C70573F-0879-49DC-881F-BDD8CC28F9DC}" type="presOf" srcId="{D7ABD14B-9518-489B-9EA0-4431E608AE93}" destId="{44DBC789-43C6-4203-A728-FFB3AAAFD74F}" srcOrd="0" destOrd="0" presId="urn:microsoft.com/office/officeart/2005/8/layout/orgChart1"/>
    <dgm:cxn modelId="{FBF27262-031E-4CEC-B619-AD06C4A14DA0}" type="presOf" srcId="{7011EF0C-3095-48CE-905C-4BD0350BEF74}" destId="{C21F51CC-2C61-44D6-9D90-EF4C8D51F251}" srcOrd="0" destOrd="0" presId="urn:microsoft.com/office/officeart/2005/8/layout/orgChart1"/>
    <dgm:cxn modelId="{C349F94D-2D23-4B52-BD01-2FD694824582}" type="presOf" srcId="{60DA67C6-9B95-467B-8D88-B5F05DEE7941}" destId="{990FAE9B-8BE6-44BA-A685-88E38C2F6A54}" srcOrd="1" destOrd="0" presId="urn:microsoft.com/office/officeart/2005/8/layout/orgChart1"/>
    <dgm:cxn modelId="{657A1E70-20F1-4739-B8CB-8A96B9A265A5}" srcId="{D7ABD14B-9518-489B-9EA0-4431E608AE93}" destId="{3740078C-1D3D-4F57-8BAB-2158316B746D}" srcOrd="0" destOrd="0" parTransId="{8257866A-1A32-4D17-B42B-AC2F10A484E0}" sibTransId="{A4BE5A71-FF77-4D88-91CC-43029C3CD186}"/>
    <dgm:cxn modelId="{7C6C3C76-2136-46EA-8F7B-A502DE32A5E3}" type="presOf" srcId="{60DA67C6-9B95-467B-8D88-B5F05DEE7941}" destId="{50DE0A8D-D3CC-41AB-8031-1D511FA6F4EA}" srcOrd="0" destOrd="0" presId="urn:microsoft.com/office/officeart/2005/8/layout/orgChart1"/>
    <dgm:cxn modelId="{985BA579-24CD-47B1-A538-7220A3E34E51}" type="presOf" srcId="{3740078C-1D3D-4F57-8BAB-2158316B746D}" destId="{603CCEB6-87D5-437F-A49F-EFE6801B4B82}" srcOrd="1" destOrd="0" presId="urn:microsoft.com/office/officeart/2005/8/layout/orgChart1"/>
    <dgm:cxn modelId="{3347037E-22FD-484D-B4D8-CAAF43670CAB}" type="presOf" srcId="{FB981514-676A-4074-8AED-4FE75D1E574E}" destId="{084E6F9A-5D26-4755-BC43-F1E7A5D79725}" srcOrd="0" destOrd="0" presId="urn:microsoft.com/office/officeart/2005/8/layout/orgChart1"/>
    <dgm:cxn modelId="{D1DC479A-B36B-4571-B295-011D421EA9E9}" type="presOf" srcId="{C493974A-B357-475C-9377-0AD4F379F4AA}" destId="{2966B516-4068-4D66-B57C-3C8BEEE5C5C9}" srcOrd="0" destOrd="0" presId="urn:microsoft.com/office/officeart/2005/8/layout/orgChart1"/>
    <dgm:cxn modelId="{4FCAE1B7-0C58-4D64-94D2-C87CCEBAB4FC}" type="presOf" srcId="{C493974A-B357-475C-9377-0AD4F379F4AA}" destId="{E30F20EA-38CF-431C-8FA8-F7FC950E8F20}" srcOrd="1" destOrd="0" presId="urn:microsoft.com/office/officeart/2005/8/layout/orgChart1"/>
    <dgm:cxn modelId="{33F0B5F1-0F5D-4478-8C48-3B0F29C9844E}" srcId="{3740078C-1D3D-4F57-8BAB-2158316B746D}" destId="{C493974A-B357-475C-9377-0AD4F379F4AA}" srcOrd="1" destOrd="0" parTransId="{FB981514-676A-4074-8AED-4FE75D1E574E}" sibTransId="{CCB45131-4B7B-4678-8596-865186D648F6}"/>
    <dgm:cxn modelId="{92F8C7F1-D74C-4382-A87B-22C592062771}" srcId="{3740078C-1D3D-4F57-8BAB-2158316B746D}" destId="{60DA67C6-9B95-467B-8D88-B5F05DEE7941}" srcOrd="0" destOrd="0" parTransId="{7011EF0C-3095-48CE-905C-4BD0350BEF74}" sibTransId="{A6A7368E-B2DD-4F7E-A28B-23A6D05FDA04}"/>
    <dgm:cxn modelId="{50F033C4-5C9F-4173-AB8C-58808FF80EDC}" type="presParOf" srcId="{44DBC789-43C6-4203-A728-FFB3AAAFD74F}" destId="{83A03315-630A-434D-8DCE-87E8C35EA649}" srcOrd="0" destOrd="0" presId="urn:microsoft.com/office/officeart/2005/8/layout/orgChart1"/>
    <dgm:cxn modelId="{52A3F7D7-F06C-4266-8314-2F63CC8408B6}" type="presParOf" srcId="{83A03315-630A-434D-8DCE-87E8C35EA649}" destId="{99F32EB0-127B-47DF-8D37-62E8AEE1B887}" srcOrd="0" destOrd="0" presId="urn:microsoft.com/office/officeart/2005/8/layout/orgChart1"/>
    <dgm:cxn modelId="{169AA2B8-615E-4534-9568-4CDD465B337A}" type="presParOf" srcId="{99F32EB0-127B-47DF-8D37-62E8AEE1B887}" destId="{4FB418B1-D704-4082-BDAC-604C7EF0CCB6}" srcOrd="0" destOrd="0" presId="urn:microsoft.com/office/officeart/2005/8/layout/orgChart1"/>
    <dgm:cxn modelId="{DD4B8674-42F8-4B74-9B84-53986EFDAAC3}" type="presParOf" srcId="{99F32EB0-127B-47DF-8D37-62E8AEE1B887}" destId="{603CCEB6-87D5-437F-A49F-EFE6801B4B82}" srcOrd="1" destOrd="0" presId="urn:microsoft.com/office/officeart/2005/8/layout/orgChart1"/>
    <dgm:cxn modelId="{285BCBD7-9DFA-484E-977F-B3894AAB9F32}" type="presParOf" srcId="{83A03315-630A-434D-8DCE-87E8C35EA649}" destId="{3146A3F4-C0B2-4218-875B-3EC35CD307EB}" srcOrd="1" destOrd="0" presId="urn:microsoft.com/office/officeart/2005/8/layout/orgChart1"/>
    <dgm:cxn modelId="{E05A3D9E-313C-4B65-8976-231B3B5A326A}" type="presParOf" srcId="{3146A3F4-C0B2-4218-875B-3EC35CD307EB}" destId="{C21F51CC-2C61-44D6-9D90-EF4C8D51F251}" srcOrd="0" destOrd="0" presId="urn:microsoft.com/office/officeart/2005/8/layout/orgChart1"/>
    <dgm:cxn modelId="{14D01625-F8A2-43D7-BA78-C9F2DE77361D}" type="presParOf" srcId="{3146A3F4-C0B2-4218-875B-3EC35CD307EB}" destId="{A0D152E4-48F6-4D73-B910-82DC197677D1}" srcOrd="1" destOrd="0" presId="urn:microsoft.com/office/officeart/2005/8/layout/orgChart1"/>
    <dgm:cxn modelId="{9526E547-286C-4A83-A21F-A8651FF42152}" type="presParOf" srcId="{A0D152E4-48F6-4D73-B910-82DC197677D1}" destId="{5CB87BF1-1986-4268-8BD9-D6DADB5E723F}" srcOrd="0" destOrd="0" presId="urn:microsoft.com/office/officeart/2005/8/layout/orgChart1"/>
    <dgm:cxn modelId="{C65BC855-E45A-4B9F-BF1C-D06B2A5B409E}" type="presParOf" srcId="{5CB87BF1-1986-4268-8BD9-D6DADB5E723F}" destId="{50DE0A8D-D3CC-41AB-8031-1D511FA6F4EA}" srcOrd="0" destOrd="0" presId="urn:microsoft.com/office/officeart/2005/8/layout/orgChart1"/>
    <dgm:cxn modelId="{1B9821AB-D555-42D3-BF12-9BB05E84CCDF}" type="presParOf" srcId="{5CB87BF1-1986-4268-8BD9-D6DADB5E723F}" destId="{990FAE9B-8BE6-44BA-A685-88E38C2F6A54}" srcOrd="1" destOrd="0" presId="urn:microsoft.com/office/officeart/2005/8/layout/orgChart1"/>
    <dgm:cxn modelId="{EB7F4C26-18FC-4854-A46E-4737BE74A037}" type="presParOf" srcId="{A0D152E4-48F6-4D73-B910-82DC197677D1}" destId="{8103E3E0-4ABE-43A2-94C4-5D6BCD355D33}" srcOrd="1" destOrd="0" presId="urn:microsoft.com/office/officeart/2005/8/layout/orgChart1"/>
    <dgm:cxn modelId="{6065BD8F-1926-44F2-8A4E-6DAD62124125}" type="presParOf" srcId="{A0D152E4-48F6-4D73-B910-82DC197677D1}" destId="{4BD0E6EB-C77A-467B-AC47-B312608BFDF2}" srcOrd="2" destOrd="0" presId="urn:microsoft.com/office/officeart/2005/8/layout/orgChart1"/>
    <dgm:cxn modelId="{C2F1F6E4-F9CD-4158-A6B3-95B7754F249C}" type="presParOf" srcId="{3146A3F4-C0B2-4218-875B-3EC35CD307EB}" destId="{084E6F9A-5D26-4755-BC43-F1E7A5D79725}" srcOrd="2" destOrd="0" presId="urn:microsoft.com/office/officeart/2005/8/layout/orgChart1"/>
    <dgm:cxn modelId="{CDEDDE87-8E52-4462-824B-51A8EF5B40CA}" type="presParOf" srcId="{3146A3F4-C0B2-4218-875B-3EC35CD307EB}" destId="{C2A570D6-9FE3-407C-A4CB-F79BADA96C5C}" srcOrd="3" destOrd="0" presId="urn:microsoft.com/office/officeart/2005/8/layout/orgChart1"/>
    <dgm:cxn modelId="{F8D47F78-434B-418B-8220-1424F35E4298}" type="presParOf" srcId="{C2A570D6-9FE3-407C-A4CB-F79BADA96C5C}" destId="{F36F06F1-2EBA-4B12-84E7-AA8708DEACAB}" srcOrd="0" destOrd="0" presId="urn:microsoft.com/office/officeart/2005/8/layout/orgChart1"/>
    <dgm:cxn modelId="{476E654A-7F2A-4722-9506-638FC8C91C37}" type="presParOf" srcId="{F36F06F1-2EBA-4B12-84E7-AA8708DEACAB}" destId="{2966B516-4068-4D66-B57C-3C8BEEE5C5C9}" srcOrd="0" destOrd="0" presId="urn:microsoft.com/office/officeart/2005/8/layout/orgChart1"/>
    <dgm:cxn modelId="{60A91E2F-B41A-4475-B50F-65049B5541F1}" type="presParOf" srcId="{F36F06F1-2EBA-4B12-84E7-AA8708DEACAB}" destId="{E30F20EA-38CF-431C-8FA8-F7FC950E8F20}" srcOrd="1" destOrd="0" presId="urn:microsoft.com/office/officeart/2005/8/layout/orgChart1"/>
    <dgm:cxn modelId="{AFFE03D3-E44B-43F4-8096-3B826E6E8C69}" type="presParOf" srcId="{C2A570D6-9FE3-407C-A4CB-F79BADA96C5C}" destId="{02159809-82A3-4A49-8EE0-F9BA7108CD42}" srcOrd="1" destOrd="0" presId="urn:microsoft.com/office/officeart/2005/8/layout/orgChart1"/>
    <dgm:cxn modelId="{3CC261CC-C1B4-4A99-8DF9-47B87AA4567D}" type="presParOf" srcId="{C2A570D6-9FE3-407C-A4CB-F79BADA96C5C}" destId="{1AA8791F-F0A0-443F-9CF7-575445337E2F}" srcOrd="2" destOrd="0" presId="urn:microsoft.com/office/officeart/2005/8/layout/orgChart1"/>
    <dgm:cxn modelId="{EA6AD8F9-C9BA-47A4-956F-C3EFA830DB1F}" type="presParOf" srcId="{83A03315-630A-434D-8DCE-87E8C35EA649}" destId="{496626BD-D2E2-457A-9EC9-4ED09A9B015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E6F9A-5D26-4755-BC43-F1E7A5D79725}">
      <dsp:nvSpPr>
        <dsp:cNvPr id="0" name=""/>
        <dsp:cNvSpPr/>
      </dsp:nvSpPr>
      <dsp:spPr>
        <a:xfrm>
          <a:off x="2561808" y="2136591"/>
          <a:ext cx="1355550" cy="374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376"/>
              </a:lnTo>
              <a:lnTo>
                <a:pt x="1355550" y="222376"/>
              </a:lnTo>
              <a:lnTo>
                <a:pt x="1355550" y="374569"/>
              </a:lnTo>
            </a:path>
          </a:pathLst>
        </a:custGeom>
        <a:noFill/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1F51CC-2C61-44D6-9D90-EF4C8D51F251}">
      <dsp:nvSpPr>
        <dsp:cNvPr id="0" name=""/>
        <dsp:cNvSpPr/>
      </dsp:nvSpPr>
      <dsp:spPr>
        <a:xfrm>
          <a:off x="1204990" y="2136591"/>
          <a:ext cx="1356818" cy="374569"/>
        </a:xfrm>
        <a:custGeom>
          <a:avLst/>
          <a:gdLst/>
          <a:ahLst/>
          <a:cxnLst/>
          <a:rect l="0" t="0" r="0" b="0"/>
          <a:pathLst>
            <a:path>
              <a:moveTo>
                <a:pt x="1356818" y="0"/>
              </a:moveTo>
              <a:lnTo>
                <a:pt x="1356818" y="222376"/>
              </a:lnTo>
              <a:lnTo>
                <a:pt x="0" y="222376"/>
              </a:lnTo>
              <a:lnTo>
                <a:pt x="0" y="374569"/>
              </a:lnTo>
            </a:path>
          </a:pathLst>
        </a:custGeom>
        <a:noFill/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B418B1-D704-4082-BDAC-604C7EF0CCB6}">
      <dsp:nvSpPr>
        <dsp:cNvPr id="0" name=""/>
        <dsp:cNvSpPr/>
      </dsp:nvSpPr>
      <dsp:spPr>
        <a:xfrm>
          <a:off x="1212868" y="914558"/>
          <a:ext cx="2697881" cy="1222033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 err="1"/>
            <a:t>Fluctuations</a:t>
          </a:r>
          <a:r>
            <a:rPr lang="pl-PL" sz="2800" kern="1200" dirty="0"/>
            <a:t> of </a:t>
          </a:r>
          <a:r>
            <a:rPr lang="pl-PL" sz="2800" kern="1200" dirty="0" err="1"/>
            <a:t>an</a:t>
          </a:r>
          <a:r>
            <a:rPr lang="pl-PL" sz="2800" kern="1200" dirty="0"/>
            <a:t> Index</a:t>
          </a:r>
          <a:endParaRPr lang="en-GB" sz="2800" kern="1200" dirty="0"/>
        </a:p>
      </dsp:txBody>
      <dsp:txXfrm>
        <a:off x="1212868" y="914558"/>
        <a:ext cx="2697881" cy="1222033"/>
      </dsp:txXfrm>
    </dsp:sp>
    <dsp:sp modelId="{50DE0A8D-D3CC-41AB-8031-1D511FA6F4EA}">
      <dsp:nvSpPr>
        <dsp:cNvPr id="0" name=""/>
        <dsp:cNvSpPr/>
      </dsp:nvSpPr>
      <dsp:spPr>
        <a:xfrm>
          <a:off x="1633" y="2511161"/>
          <a:ext cx="2406714" cy="724730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 err="1"/>
            <a:t>Fluctuations</a:t>
          </a:r>
          <a:r>
            <a:rPr lang="pl-PL" sz="2400" kern="1200" dirty="0"/>
            <a:t> of </a:t>
          </a:r>
          <a:r>
            <a:rPr lang="pl-PL" sz="2400" kern="1200" dirty="0" err="1"/>
            <a:t>stocks</a:t>
          </a:r>
          <a:endParaRPr lang="en-GB" sz="2400" kern="1200" dirty="0"/>
        </a:p>
      </dsp:txBody>
      <dsp:txXfrm>
        <a:off x="1633" y="2511161"/>
        <a:ext cx="2406714" cy="724730"/>
      </dsp:txXfrm>
    </dsp:sp>
    <dsp:sp modelId="{2966B516-4068-4D66-B57C-3C8BEEE5C5C9}">
      <dsp:nvSpPr>
        <dsp:cNvPr id="0" name=""/>
        <dsp:cNvSpPr/>
      </dsp:nvSpPr>
      <dsp:spPr>
        <a:xfrm>
          <a:off x="2712734" y="2511161"/>
          <a:ext cx="2409250" cy="724730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 w="38100" cap="flat" cmpd="sng" algn="ctr">
          <a:solidFill>
            <a:schemeClr val="accent5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 dirty="0" err="1"/>
            <a:t>Correlations</a:t>
          </a:r>
          <a:r>
            <a:rPr lang="pl-PL" sz="2400" kern="1200" dirty="0"/>
            <a:t> </a:t>
          </a:r>
          <a:r>
            <a:rPr lang="pl-PL" sz="2400" kern="1200" dirty="0" err="1"/>
            <a:t>between</a:t>
          </a:r>
          <a:r>
            <a:rPr lang="pl-PL" sz="2400" kern="1200" dirty="0"/>
            <a:t> </a:t>
          </a:r>
          <a:r>
            <a:rPr lang="pl-PL" sz="2400" kern="1200" dirty="0" err="1"/>
            <a:t>stocks</a:t>
          </a:r>
          <a:endParaRPr lang="en-GB" sz="2400" kern="1200" dirty="0"/>
        </a:p>
      </dsp:txBody>
      <dsp:txXfrm>
        <a:off x="2712734" y="2511161"/>
        <a:ext cx="2409250" cy="724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92E9F-3E64-4F25-8AF6-4FA9E217CDCE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2F1CA-2C40-4076-8AB1-6B3B4788D4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18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52F1CA-2C40-4076-8AB1-6B3B4788D46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68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B2AF-4B34-A71C-5B03-68916166D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0A8B0-A061-640B-B523-950D011E4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08B09-A351-0567-0F4F-41A40514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129CE-320C-AD14-7641-653FBE2C0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689C9-1A4D-4D83-A4B7-791964CA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83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515F-9778-1C5B-73DA-0B977CFA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A1CF4-10E9-6DF0-ABFA-75A4EC438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F6B5D-1892-450B-7526-A2850C3A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83E5-B995-4109-8DA4-1F7D5434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D963C-5496-8977-B235-2BF728F14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95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7B89-7665-92B0-2F68-4E606A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821F2-12B2-A422-BC20-50C937CAC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9CA9F-8046-4312-232B-1917900E0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1FCF-EA53-5D37-19F1-503156BE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D3136-2F43-FA94-33B9-FAD42128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143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539C-BE5E-DFAA-A9DB-AB566148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7715-E293-F6F6-5C13-C90E2AC0C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575A-0524-FFF4-5EC3-C812B5995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75AEF-3357-1E68-4E65-76FA90AB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350C0-DAEF-3B46-FACD-E2144C8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0D9BC-8D7C-CA50-47D9-4E09A06D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16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A988-8A75-310D-7633-2114C467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5547F-4912-6FEA-4C11-3FD7FCB4A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584C6-8DDF-541D-A5E9-6CBB467CC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C6648-92EA-CC91-FD97-6A93D2C38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2E70B-29D1-4801-16C8-93186EEB9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F1597-F19F-F9F3-3623-6D07E4F82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062B3-2D1B-BF50-9E5E-CB807088D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48904-276D-D9E0-8CF2-90103222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80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8143-38B0-5416-4AED-F5F1B3C9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4933A-4AAA-08FB-705B-84BEB933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562DD3-5218-3D76-6E6F-245D707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66EEC0-EFF6-1646-204D-5FDC3E88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674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3AFBBB-7FBA-17AF-9C18-076FCE18B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5A862-DDF3-2696-9A44-49B9607C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C83D7-2976-CC57-D466-64318E8C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04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D45C-E358-5C47-029C-AACF9C2C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55CA8-FD79-0C09-A8A1-46FE0E7E3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507F9-670B-AE73-8C5A-8943C7B2C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F79BD-6A7B-3F4B-A0E6-A815B4520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65BC4-77B6-F3C9-9BB6-7B8CB354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D6BEF-2ADC-B67E-D58F-8ACBC456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88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F8C5-0425-8BAA-56F1-46D629DC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2F0865-C6D8-FF1D-5A27-A932F2AEB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B80BE-58F3-913D-B1BE-D480EE165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1D046-96FA-677F-B511-48D9457C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B82CC-AE47-0E03-B0E0-36C3DE04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17A52-A98D-3F2C-DA7E-2803A009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87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A4ED8-2C69-FD0A-293F-912F8F21F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F9D505-DADF-E7B0-4017-5D3672855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88180-23B6-AEDB-E110-5E1F7B33D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6D809-1F43-4867-DD64-E1B816AE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E111D-9D6F-5A93-FBBA-8FBCD2B6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29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B37A6-66D7-D585-2688-D3AA6F157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087D4-B997-DC21-0263-C833B5803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71BA4-1A2D-C006-2D03-544E3B06D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505F5-17BB-FBCF-18C4-60FF6BDF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97473-6EDD-2F37-C4B8-69F403E7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54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71C6-6D49-585E-B8FF-5809C25C9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6EDC-7BCB-8F57-A51C-2744B00AE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0EBA5-EC7F-FB40-A20C-975F20EC4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E3AC4-AB1F-4F5A-A015-BDEADE088DCA}" type="datetimeFigureOut">
              <a:rPr lang="en-GB" smtClean="0"/>
              <a:t>01/07/2025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2E1D9-7F9E-8812-8E23-050BBBB5B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4A6EF-5A92-A2E6-CF9A-95ABDDEE5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51244-FEEE-4FF1-9E01-CC6AB406EC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72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0E73-EF4D-AE0D-3369-FA901BFB9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426" y="84665"/>
            <a:ext cx="11417300" cy="1912937"/>
          </a:xfrm>
        </p:spPr>
        <p:txBody>
          <a:bodyPr>
            <a:normAutofit/>
          </a:bodyPr>
          <a:lstStyle/>
          <a:p>
            <a:r>
              <a:rPr lang="en-GB" sz="3200" dirty="0"/>
              <a:t>Investigating the Leverage Effect on </a:t>
            </a:r>
            <a:r>
              <a:rPr lang="en-GB" sz="4400" b="1" dirty="0">
                <a:solidFill>
                  <a:srgbClr val="00B050"/>
                </a:solidFill>
              </a:rPr>
              <a:t>the Polish Stock Market</a:t>
            </a:r>
            <a:r>
              <a:rPr lang="en-GB" sz="4400" dirty="0"/>
              <a:t> </a:t>
            </a:r>
            <a:r>
              <a:rPr lang="en-GB" sz="3200" dirty="0"/>
              <a:t>Using</a:t>
            </a:r>
            <a:br>
              <a:rPr lang="en-GB" sz="3200" dirty="0"/>
            </a:br>
            <a:r>
              <a:rPr lang="en-GB" sz="3200" dirty="0"/>
              <a:t>Principal Regression Analysis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EB8DB-AE23-2158-30E9-F51563C51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03" y="2819730"/>
            <a:ext cx="3545397" cy="2669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BBEF7-5D37-4AA9-43C8-AB303A892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259" y="3887084"/>
            <a:ext cx="3545397" cy="2669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6068B5-7FEF-EEBD-D548-67CF3A6B71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50" y="2750313"/>
            <a:ext cx="3545397" cy="2669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D87C36-A2F9-4CC6-DD90-59DA76270A74}"/>
                  </a:ext>
                </a:extLst>
              </p:cNvPr>
              <p:cNvSpPr txBox="1"/>
              <p:nvPr/>
            </p:nvSpPr>
            <p:spPr>
              <a:xfrm>
                <a:off x="4378471" y="2719937"/>
                <a:ext cx="3435053" cy="861326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l-PL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pl-PL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l-PL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l-PL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pl-PL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l-PL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den>
                          </m:f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D87C36-A2F9-4CC6-DD90-59DA76270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8471" y="2719937"/>
                <a:ext cx="3435053" cy="861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3F7C24-2542-CA09-73E1-7E189E7DF534}"/>
              </a:ext>
            </a:extLst>
          </p:cNvPr>
          <p:cNvSpPr txBox="1"/>
          <p:nvPr/>
        </p:nvSpPr>
        <p:spPr>
          <a:xfrm>
            <a:off x="226483" y="2014006"/>
            <a:ext cx="117432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000" dirty="0" err="1"/>
              <a:t>Authors</a:t>
            </a:r>
            <a:r>
              <a:rPr lang="pl-PL" sz="2000" dirty="0"/>
              <a:t>: </a:t>
            </a:r>
            <a:r>
              <a:rPr lang="en-GB" sz="2000" dirty="0"/>
              <a:t>M</a:t>
            </a:r>
            <a:r>
              <a:rPr lang="pl-PL" sz="2000" dirty="0" err="1"/>
              <a:t>agdalena</a:t>
            </a:r>
            <a:r>
              <a:rPr lang="en-GB" sz="2000" dirty="0"/>
              <a:t> Latała,</a:t>
            </a:r>
            <a:r>
              <a:rPr lang="pl-PL" sz="2000" dirty="0"/>
              <a:t> dr </a:t>
            </a:r>
            <a:r>
              <a:rPr lang="en-GB" sz="2000" dirty="0"/>
              <a:t>T</a:t>
            </a:r>
            <a:r>
              <a:rPr lang="pl-PL" sz="2000" dirty="0" err="1"/>
              <a:t>omasz</a:t>
            </a:r>
            <a:r>
              <a:rPr lang="en-GB" sz="2000" dirty="0"/>
              <a:t> </a:t>
            </a:r>
            <a:r>
              <a:rPr lang="en-GB" sz="2000" dirty="0" err="1"/>
              <a:t>Gubiec</a:t>
            </a:r>
            <a:r>
              <a:rPr lang="en-GB" sz="2000" dirty="0"/>
              <a:t> 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779750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32C62F4-940D-4703-A924-A4C4B57C022F}"/>
              </a:ext>
            </a:extLst>
          </p:cNvPr>
          <p:cNvSpPr txBox="1">
            <a:spLocks/>
          </p:cNvSpPr>
          <p:nvPr/>
        </p:nvSpPr>
        <p:spPr>
          <a:xfrm>
            <a:off x="530225" y="125413"/>
            <a:ext cx="11131550" cy="19129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dirty="0"/>
              <a:t>Investigating </a:t>
            </a:r>
            <a:r>
              <a:rPr lang="en-GB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the Leverage Effect </a:t>
            </a:r>
            <a:r>
              <a:rPr lang="en-GB" sz="3200" dirty="0"/>
              <a:t>on the Polish Stock Market</a:t>
            </a:r>
            <a:r>
              <a:rPr lang="en-GB" dirty="0"/>
              <a:t> </a:t>
            </a:r>
            <a:r>
              <a:rPr lang="en-GB" sz="3200" dirty="0"/>
              <a:t>Using</a:t>
            </a:r>
            <a:br>
              <a:rPr lang="en-GB" sz="3200" dirty="0"/>
            </a:br>
            <a:r>
              <a:rPr lang="en-GB" sz="3200" dirty="0"/>
              <a:t>Principal Regression Analysis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DE0C8-87E0-7520-89F2-46A095E30A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44" y="3586187"/>
            <a:ext cx="3798812" cy="2860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B925AD-29AA-4DE3-4958-B91288710C3E}"/>
              </a:ext>
            </a:extLst>
          </p:cNvPr>
          <p:cNvSpPr txBox="1"/>
          <p:nvPr/>
        </p:nvSpPr>
        <p:spPr>
          <a:xfrm>
            <a:off x="371474" y="2298700"/>
            <a:ext cx="2130425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2400" dirty="0" err="1">
                <a:latin typeface="+mj-lt"/>
                <a:ea typeface="+mj-ea"/>
                <a:cs typeface="+mj-cs"/>
              </a:rPr>
              <a:t>Negative</a:t>
            </a:r>
            <a:r>
              <a:rPr lang="pl-PL" sz="1400" dirty="0"/>
              <a:t> </a:t>
            </a:r>
            <a:r>
              <a:rPr lang="pl-PL" sz="2400" dirty="0" err="1">
                <a:latin typeface="+mj-lt"/>
                <a:ea typeface="+mj-ea"/>
                <a:cs typeface="+mj-cs"/>
              </a:rPr>
              <a:t>returns</a:t>
            </a:r>
            <a:endParaRPr lang="en-GB" sz="240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B579F5-E362-D818-CF82-BA41025C0198}"/>
              </a:ext>
            </a:extLst>
          </p:cNvPr>
          <p:cNvSpPr txBox="1"/>
          <p:nvPr/>
        </p:nvSpPr>
        <p:spPr>
          <a:xfrm>
            <a:off x="3111500" y="2413684"/>
            <a:ext cx="2515356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l-PL" sz="2400" dirty="0" err="1">
                <a:latin typeface="+mj-lt"/>
                <a:ea typeface="+mj-ea"/>
                <a:cs typeface="+mj-cs"/>
              </a:rPr>
              <a:t>Increased</a:t>
            </a:r>
            <a:r>
              <a:rPr lang="pl-PL" sz="2400" dirty="0">
                <a:latin typeface="+mj-lt"/>
                <a:ea typeface="+mj-ea"/>
                <a:cs typeface="+mj-cs"/>
              </a:rPr>
              <a:t> </a:t>
            </a:r>
            <a:r>
              <a:rPr lang="pl-PL" sz="2400" dirty="0" err="1">
                <a:latin typeface="+mj-lt"/>
                <a:ea typeface="+mj-ea"/>
                <a:cs typeface="+mj-cs"/>
              </a:rPr>
              <a:t>fluctuations</a:t>
            </a:r>
            <a:endParaRPr lang="en-GB" sz="2400" dirty="0"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6C792E-F3F3-D712-ABE2-FA878F6227CB}"/>
              </a:ext>
            </a:extLst>
          </p:cNvPr>
          <p:cNvCxnSpPr>
            <a:stCxn id="10" idx="2"/>
          </p:cNvCxnSpPr>
          <p:nvPr/>
        </p:nvCxnSpPr>
        <p:spPr>
          <a:xfrm>
            <a:off x="1436686" y="3129697"/>
            <a:ext cx="972000" cy="2077303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D55A0C-6131-AAA8-4CD7-6B6DFC179ECD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2743200" y="3244681"/>
            <a:ext cx="1625978" cy="1301919"/>
          </a:xfrm>
          <a:prstGeom prst="straightConnector1">
            <a:avLst/>
          </a:prstGeom>
          <a:ln w="57150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E6AAA1FC-55B6-500B-0C37-D07847024D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9370644"/>
              </p:ext>
            </p:extLst>
          </p:nvPr>
        </p:nvGraphicFramePr>
        <p:xfrm>
          <a:off x="6603695" y="2714198"/>
          <a:ext cx="5123618" cy="4220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Title 1">
            <a:extLst>
              <a:ext uri="{FF2B5EF4-FFF2-40B4-BE49-F238E27FC236}">
                <a16:creationId xmlns:a16="http://schemas.microsoft.com/office/drawing/2014/main" id="{399582F0-CCCB-DA83-9E36-9A5649153801}"/>
              </a:ext>
            </a:extLst>
          </p:cNvPr>
          <p:cNvSpPr txBox="1">
            <a:spLocks/>
          </p:cNvSpPr>
          <p:nvPr/>
        </p:nvSpPr>
        <p:spPr>
          <a:xfrm>
            <a:off x="6236457" y="2905847"/>
            <a:ext cx="5702300" cy="39521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200" b="1" dirty="0">
                <a:solidFill>
                  <a:schemeClr val="accent5">
                    <a:lumMod val="75000"/>
                  </a:schemeClr>
                </a:solidFill>
              </a:rPr>
              <a:t>The</a:t>
            </a:r>
            <a:r>
              <a:rPr lang="pl-PL" sz="3200" b="1" dirty="0">
                <a:solidFill>
                  <a:schemeClr val="accent5">
                    <a:lumMod val="75000"/>
                  </a:schemeClr>
                </a:solidFill>
              </a:rPr>
              <a:t> Index</a:t>
            </a:r>
            <a:r>
              <a:rPr lang="en-GB" sz="3200" b="1" dirty="0">
                <a:solidFill>
                  <a:schemeClr val="accent5">
                    <a:lumMod val="75000"/>
                  </a:schemeClr>
                </a:solidFill>
              </a:rPr>
              <a:t> Leverage Effect</a:t>
            </a:r>
          </a:p>
        </p:txBody>
      </p:sp>
    </p:spTree>
    <p:extLst>
      <p:ext uri="{BB962C8B-B14F-4D97-AF65-F5344CB8AC3E}">
        <p14:creationId xmlns:p14="http://schemas.microsoft.com/office/powerpoint/2010/main" val="290597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6559-6288-7CEC-D90F-67B56A26DACF}"/>
              </a:ext>
            </a:extLst>
          </p:cNvPr>
          <p:cNvSpPr txBox="1">
            <a:spLocks/>
          </p:cNvSpPr>
          <p:nvPr/>
        </p:nvSpPr>
        <p:spPr>
          <a:xfrm>
            <a:off x="530225" y="125413"/>
            <a:ext cx="11131550" cy="19129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Investigating</a:t>
            </a:r>
            <a:r>
              <a:rPr lang="en-GB" sz="3200" dirty="0"/>
              <a:t> the Leverage Effect on the Polish Stock Market</a:t>
            </a:r>
            <a:r>
              <a:rPr lang="en-GB" dirty="0"/>
              <a:t> 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Using</a:t>
            </a:r>
            <a:br>
              <a:rPr lang="en-GB" sz="32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Principal Regression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A078DA-C933-DCB2-15AC-AC20027699B6}"/>
                  </a:ext>
                </a:extLst>
              </p:cNvPr>
              <p:cNvSpPr txBox="1"/>
              <p:nvPr/>
            </p:nvSpPr>
            <p:spPr>
              <a:xfrm>
                <a:off x="1012825" y="2445574"/>
                <a:ext cx="10166350" cy="2582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pl-PL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r>
                        <a:rPr lang="pl-PL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𝛼𝛽</m:t>
                          </m:r>
                        </m:sub>
                      </m:sSub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l-PL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l-PL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pl-PL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pl-PL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pl-PL" sz="2800" b="1" dirty="0">
                  <a:latin typeface="Cambria Math" panose="02040503050406030204" pitchFamily="18" charset="0"/>
                </a:endParaRPr>
              </a:p>
              <a:p>
                <a:pPr algn="ctr">
                  <a:lnSpc>
                    <a:spcPct val="200000"/>
                  </a:lnSpc>
                </a:pPr>
                <a:r>
                  <a:rPr lang="pl-PL" sz="2800" b="1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⇩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800" b="1">
                          <a:latin typeface="Cambria Math" panose="02040503050406030204" pitchFamily="18" charset="0"/>
                        </a:rPr>
                        <m:t>𝐂</m:t>
                      </m:r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pl-PL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800" b="1">
                              <a:latin typeface="Cambria Math" panose="02040503050406030204" pitchFamily="18" charset="0"/>
                            </a:rPr>
                            <m:t>𝐂</m:t>
                          </m:r>
                        </m:e>
                        <m:sub>
                          <m:r>
                            <a:rPr lang="pl-PL" sz="2800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pl-PL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l-PL" sz="2800" b="1"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pl-PL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l-PL" sz="2800" dirty="0">
                  <a:latin typeface="Century Schoolbook" panose="02040604050505020304" pitchFamily="18" charset="0"/>
                </a:endParaRPr>
              </a:p>
              <a:p>
                <a:pPr algn="ctr">
                  <a:lnSpc>
                    <a:spcPct val="200000"/>
                  </a:lnSpc>
                </a:pPr>
                <a:r>
                  <a:rPr lang="pl-PL" sz="2800" b="1" dirty="0">
                    <a:solidFill>
                      <a:schemeClr val="accent2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⇩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A078DA-C933-DCB2-15AC-AC2002769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25" y="2445574"/>
                <a:ext cx="10166350" cy="2582245"/>
              </a:xfrm>
              <a:prstGeom prst="rect">
                <a:avLst/>
              </a:prstGeom>
              <a:blipFill>
                <a:blip r:embed="rId3"/>
                <a:stretch>
                  <a:fillRect b="-54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E550E0-2C36-6FAB-1269-46AEE3507613}"/>
                  </a:ext>
                </a:extLst>
              </p:cNvPr>
              <p:cNvSpPr txBox="1"/>
              <p:nvPr/>
            </p:nvSpPr>
            <p:spPr>
              <a:xfrm>
                <a:off x="3048000" y="5239435"/>
                <a:ext cx="6096000" cy="11667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l-PL" sz="3200" dirty="0">
                    <a:latin typeface="+mj-lt"/>
                    <a:ea typeface="+mj-ea"/>
                    <a:cs typeface="+mj-cs"/>
                  </a:rPr>
                  <a:t>Dynamics of the </a:t>
                </a:r>
                <a:r>
                  <a:rPr lang="pl-PL" sz="3200" dirty="0" err="1">
                    <a:latin typeface="+mj-lt"/>
                    <a:ea typeface="+mj-ea"/>
                    <a:cs typeface="+mj-cs"/>
                  </a:rPr>
                  <a:t>stock</a:t>
                </a:r>
                <a:r>
                  <a:rPr lang="pl-PL" sz="3200" dirty="0">
                    <a:latin typeface="+mj-lt"/>
                    <a:ea typeface="+mj-ea"/>
                    <a:cs typeface="+mj-cs"/>
                  </a:rPr>
                  <a:t> market: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l-PL" sz="2800" dirty="0" err="1">
                    <a:latin typeface="+mj-lt"/>
                    <a:ea typeface="+mj-ea"/>
                    <a:cs typeface="+mj-cs"/>
                  </a:rPr>
                  <a:t>Eigenvalue</a:t>
                </a:r>
                <a:r>
                  <a:rPr lang="pl-PL" sz="2800" dirty="0">
                    <a:latin typeface="+mj-lt"/>
                    <a:ea typeface="+mj-ea"/>
                    <a:cs typeface="+mj-cs"/>
                  </a:rPr>
                  <a:t> </a:t>
                </a:r>
                <a:r>
                  <a:rPr lang="pl-PL" sz="2800" dirty="0" err="1">
                    <a:latin typeface="+mj-lt"/>
                    <a:ea typeface="+mj-ea"/>
                    <a:cs typeface="+mj-cs"/>
                  </a:rPr>
                  <a:t>decomposition</a:t>
                </a:r>
                <a:r>
                  <a:rPr lang="pl-PL" sz="2800" dirty="0">
                    <a:latin typeface="+mj-lt"/>
                    <a:ea typeface="+mj-ea"/>
                    <a:cs typeface="+mj-cs"/>
                  </a:rPr>
                  <a:t> of </a:t>
                </a:r>
                <a14:m>
                  <m:oMath xmlns:m="http://schemas.openxmlformats.org/officeDocument/2006/math">
                    <m:r>
                      <a:rPr lang="pl-PL" sz="2800">
                        <a:latin typeface="Cambria Math" panose="02040503050406030204" pitchFamily="18" charset="0"/>
                        <a:ea typeface="+mj-ea"/>
                        <a:cs typeface="+mj-cs"/>
                      </a:rPr>
                      <m:t>𝐂</m:t>
                    </m:r>
                    <m:d>
                      <m:dPr>
                        <m:ctrlPr>
                          <a:rPr lang="pl-PL" sz="2800" i="1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</m:ctrlPr>
                      </m:dPr>
                      <m:e>
                        <m:r>
                          <a:rPr lang="pl-PL" sz="2800">
                            <a:latin typeface="Cambria Math" panose="02040503050406030204" pitchFamily="18" charset="0"/>
                            <a:ea typeface="+mj-ea"/>
                            <a:cs typeface="+mj-cs"/>
                          </a:rPr>
                          <m:t>𝐼</m:t>
                        </m:r>
                      </m:e>
                    </m:d>
                  </m:oMath>
                </a14:m>
                <a:endParaRPr lang="pl-PL" sz="2800" dirty="0">
                  <a:latin typeface="+mj-lt"/>
                  <a:ea typeface="+mj-ea"/>
                  <a:cs typeface="+mj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E550E0-2C36-6FAB-1269-46AEE3507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239435"/>
                <a:ext cx="6096000" cy="1166794"/>
              </a:xfrm>
              <a:prstGeom prst="rect">
                <a:avLst/>
              </a:prstGeom>
              <a:blipFill>
                <a:blip r:embed="rId4"/>
                <a:stretch>
                  <a:fillRect t="-4545" b="-11616"/>
                </a:stretch>
              </a:blipFill>
              <a:ln w="3810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33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108</Words>
  <Application>Microsoft Office PowerPoint</Application>
  <PresentationFormat>Widescreen</PresentationFormat>
  <Paragraphs>18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Century Schoolbook</vt:lpstr>
      <vt:lpstr>Office Theme</vt:lpstr>
      <vt:lpstr>Investigating the Leverage Effect on the Polish Stock Market Using Principal Regression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Magdalena Latała</dc:creator>
  <cp:lastModifiedBy>Magdalena Latała</cp:lastModifiedBy>
  <cp:revision>2</cp:revision>
  <dcterms:created xsi:type="dcterms:W3CDTF">2025-06-30T14:24:07Z</dcterms:created>
  <dcterms:modified xsi:type="dcterms:W3CDTF">2025-07-01T19:41:01Z</dcterms:modified>
</cp:coreProperties>
</file>